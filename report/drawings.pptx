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70" r:id="rId4"/>
    <p:sldId id="279" r:id="rId5"/>
    <p:sldId id="281" r:id="rId6"/>
    <p:sldId id="282" r:id="rId7"/>
    <p:sldId id="273" r:id="rId8"/>
    <p:sldId id="274" r:id="rId9"/>
    <p:sldId id="283" r:id="rId10"/>
    <p:sldId id="276" r:id="rId11"/>
    <p:sldId id="27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2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89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49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58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00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46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5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7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84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10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16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4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28EBE-C46F-42E2-B43A-162BD3019290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4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à coins arrondis 15"/>
          <p:cNvSpPr/>
          <p:nvPr/>
        </p:nvSpPr>
        <p:spPr>
          <a:xfrm>
            <a:off x="4804756" y="232757"/>
            <a:ext cx="2826327" cy="113053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Mobile Money Transaction</a:t>
            </a:r>
            <a:endParaRPr lang="fr-FR" dirty="0"/>
          </a:p>
        </p:txBody>
      </p:sp>
      <p:sp>
        <p:nvSpPr>
          <p:cNvPr id="43" name="Rectangle à coins arrondis 42"/>
          <p:cNvSpPr/>
          <p:nvPr/>
        </p:nvSpPr>
        <p:spPr>
          <a:xfrm>
            <a:off x="4804756" y="2330335"/>
            <a:ext cx="2826327" cy="113053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Legitimate</a:t>
            </a:r>
            <a:r>
              <a:rPr lang="fr-FR" dirty="0" smtClean="0"/>
              <a:t> ?</a:t>
            </a:r>
            <a:endParaRPr lang="fr-FR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2213956" y="4427913"/>
            <a:ext cx="2826327" cy="113053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No </a:t>
            </a:r>
            <a:r>
              <a:rPr lang="fr-FR" dirty="0" err="1" smtClean="0"/>
              <a:t>Fraud</a:t>
            </a:r>
            <a:endParaRPr lang="fr-FR" dirty="0"/>
          </a:p>
        </p:txBody>
      </p:sp>
      <p:sp>
        <p:nvSpPr>
          <p:cNvPr id="46" name="Rectangle à coins arrondis 45"/>
          <p:cNvSpPr/>
          <p:nvPr/>
        </p:nvSpPr>
        <p:spPr>
          <a:xfrm>
            <a:off x="7631083" y="4427913"/>
            <a:ext cx="2826327" cy="113053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Fraud</a:t>
            </a:r>
            <a:endParaRPr lang="fr-FR" dirty="0"/>
          </a:p>
        </p:txBody>
      </p:sp>
      <p:cxnSp>
        <p:nvCxnSpPr>
          <p:cNvPr id="22" name="Connecteur droit avec flèche 21"/>
          <p:cNvCxnSpPr>
            <a:stCxn id="16" idx="2"/>
            <a:endCxn id="43" idx="0"/>
          </p:cNvCxnSpPr>
          <p:nvPr/>
        </p:nvCxnSpPr>
        <p:spPr>
          <a:xfrm>
            <a:off x="6217920" y="1363287"/>
            <a:ext cx="0" cy="967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Connecteur droit 27"/>
          <p:cNvCxnSpPr>
            <a:stCxn id="43" idx="2"/>
          </p:cNvCxnSpPr>
          <p:nvPr/>
        </p:nvCxnSpPr>
        <p:spPr>
          <a:xfrm flipH="1">
            <a:off x="6217919" y="3460865"/>
            <a:ext cx="1" cy="4627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Connecteur droit 31"/>
          <p:cNvCxnSpPr/>
          <p:nvPr/>
        </p:nvCxnSpPr>
        <p:spPr>
          <a:xfrm flipV="1">
            <a:off x="3627119" y="3923607"/>
            <a:ext cx="5417127" cy="471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3627119" y="3970713"/>
            <a:ext cx="0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Connecteur droit avec flèche 40"/>
          <p:cNvCxnSpPr>
            <a:endCxn id="46" idx="0"/>
          </p:cNvCxnSpPr>
          <p:nvPr/>
        </p:nvCxnSpPr>
        <p:spPr>
          <a:xfrm>
            <a:off x="9044246" y="3923607"/>
            <a:ext cx="1" cy="5043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17907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060337" y="0"/>
            <a:ext cx="2358935" cy="60960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Transaction Data</a:t>
            </a:r>
            <a:endParaRPr lang="fr-FR" sz="1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060337" y="10165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Data </a:t>
            </a:r>
            <a:r>
              <a:rPr lang="fr-FR" sz="1400" dirty="0" err="1" smtClean="0"/>
              <a:t>Preprocessing</a:t>
            </a:r>
            <a:endParaRPr lang="fr-FR" sz="1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4060337" y="20330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Exploratory</a:t>
            </a:r>
            <a:r>
              <a:rPr lang="fr-FR" sz="1400" dirty="0" smtClean="0"/>
              <a:t>  </a:t>
            </a:r>
            <a:r>
              <a:rPr lang="fr-FR" sz="1400" dirty="0" err="1" smtClean="0"/>
              <a:t>Analysis</a:t>
            </a:r>
            <a:endParaRPr lang="fr-FR" sz="14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060337" y="3049791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Feature</a:t>
            </a:r>
            <a:r>
              <a:rPr lang="fr-FR" sz="1400" dirty="0" smtClean="0"/>
              <a:t> Engineering</a:t>
            </a:r>
            <a:endParaRPr lang="fr-FR" sz="1400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4060337" y="4066582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Model Training</a:t>
            </a:r>
            <a:endParaRPr lang="fr-FR" sz="1400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4060337" y="5083373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Hyperparameter</a:t>
            </a:r>
            <a:r>
              <a:rPr lang="fr-FR" sz="1400" dirty="0" smtClean="0"/>
              <a:t> </a:t>
            </a:r>
            <a:r>
              <a:rPr lang="fr-FR" sz="1400" dirty="0" err="1" smtClean="0"/>
              <a:t>Tuning</a:t>
            </a:r>
            <a:endParaRPr lang="fr-FR" sz="1400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4060337" y="6100164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Fraud</a:t>
            </a:r>
            <a:r>
              <a:rPr lang="fr-FR" sz="1400" dirty="0" smtClean="0"/>
              <a:t> </a:t>
            </a:r>
            <a:r>
              <a:rPr lang="fr-FR" sz="1400" dirty="0" err="1" smtClean="0"/>
              <a:t>Detection</a:t>
            </a:r>
            <a:r>
              <a:rPr lang="fr-FR" sz="1400" dirty="0" smtClean="0"/>
              <a:t> Model</a:t>
            </a:r>
            <a:endParaRPr lang="fr-FR" sz="1400" dirty="0"/>
          </a:p>
        </p:txBody>
      </p:sp>
      <p:cxnSp>
        <p:nvCxnSpPr>
          <p:cNvPr id="13" name="Connecteur droit avec flèche 12"/>
          <p:cNvCxnSpPr>
            <a:stCxn id="2" idx="2"/>
            <a:endCxn id="3" idx="0"/>
          </p:cNvCxnSpPr>
          <p:nvPr/>
        </p:nvCxnSpPr>
        <p:spPr>
          <a:xfrm>
            <a:off x="5239805" y="6096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3" idx="2"/>
            <a:endCxn id="4" idx="0"/>
          </p:cNvCxnSpPr>
          <p:nvPr/>
        </p:nvCxnSpPr>
        <p:spPr>
          <a:xfrm>
            <a:off x="5239805" y="16261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stCxn id="4" idx="2"/>
            <a:endCxn id="5" idx="0"/>
          </p:cNvCxnSpPr>
          <p:nvPr/>
        </p:nvCxnSpPr>
        <p:spPr>
          <a:xfrm>
            <a:off x="5239805" y="2642600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stCxn id="5" idx="2"/>
            <a:endCxn id="9" idx="0"/>
          </p:cNvCxnSpPr>
          <p:nvPr/>
        </p:nvCxnSpPr>
        <p:spPr>
          <a:xfrm>
            <a:off x="5239805" y="3659391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9" idx="2"/>
            <a:endCxn id="10" idx="0"/>
          </p:cNvCxnSpPr>
          <p:nvPr/>
        </p:nvCxnSpPr>
        <p:spPr>
          <a:xfrm>
            <a:off x="5239805" y="4676182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10" idx="2"/>
            <a:endCxn id="11" idx="0"/>
          </p:cNvCxnSpPr>
          <p:nvPr/>
        </p:nvCxnSpPr>
        <p:spPr>
          <a:xfrm>
            <a:off x="5239805" y="5692973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99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424201" y="26600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Raw</a:t>
            </a:r>
            <a:r>
              <a:rPr lang="fr-FR" sz="1200" dirty="0" smtClean="0"/>
              <a:t> </a:t>
            </a:r>
            <a:r>
              <a:rPr lang="fr-FR" sz="1200" dirty="0" err="1" smtClean="0"/>
              <a:t>Dataset</a:t>
            </a:r>
            <a:endParaRPr lang="fr-FR" sz="12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424201" y="1116800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Feature</a:t>
            </a:r>
            <a:r>
              <a:rPr lang="fr-FR" sz="1200" dirty="0" smtClean="0"/>
              <a:t> </a:t>
            </a:r>
            <a:r>
              <a:rPr lang="fr-FR" sz="1200" dirty="0" err="1" smtClean="0"/>
              <a:t>Selection</a:t>
            </a:r>
            <a:endParaRPr lang="fr-FR" sz="12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424201" y="1965978"/>
            <a:ext cx="1611823" cy="5243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Missing</a:t>
            </a:r>
            <a:r>
              <a:rPr lang="fr-FR" sz="1200" dirty="0" smtClean="0"/>
              <a:t> Value </a:t>
            </a:r>
            <a:r>
              <a:rPr lang="fr-FR" sz="1200" dirty="0" err="1" smtClean="0"/>
              <a:t>Analysis</a:t>
            </a:r>
            <a:endParaRPr lang="fr-FR" sz="12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424200" y="285593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Categorical</a:t>
            </a:r>
            <a:r>
              <a:rPr lang="fr-FR" sz="1200" dirty="0" smtClean="0"/>
              <a:t> </a:t>
            </a:r>
            <a:r>
              <a:rPr lang="fr-FR" sz="1200" dirty="0" err="1" smtClean="0"/>
              <a:t>Encoding</a:t>
            </a:r>
            <a:endParaRPr lang="fr-FR" sz="12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4424201" y="3705339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Processed</a:t>
            </a:r>
            <a:r>
              <a:rPr lang="fr-FR" sz="1200" dirty="0" smtClean="0"/>
              <a:t> </a:t>
            </a:r>
            <a:r>
              <a:rPr lang="fr-FR" sz="1200" dirty="0" err="1" smtClean="0"/>
              <a:t>Dataset</a:t>
            </a:r>
            <a:endParaRPr lang="fr-FR" sz="1200" dirty="0"/>
          </a:p>
        </p:txBody>
      </p:sp>
      <p:cxnSp>
        <p:nvCxnSpPr>
          <p:cNvPr id="13" name="Connecteur droit avec flèche 12"/>
          <p:cNvCxnSpPr>
            <a:stCxn id="2" idx="2"/>
            <a:endCxn id="5" idx="0"/>
          </p:cNvCxnSpPr>
          <p:nvPr/>
        </p:nvCxnSpPr>
        <p:spPr>
          <a:xfrm>
            <a:off x="5230113" y="746454"/>
            <a:ext cx="0" cy="3703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Connecteur droit avec flèche 14"/>
          <p:cNvCxnSpPr>
            <a:stCxn id="5" idx="2"/>
            <a:endCxn id="6" idx="0"/>
          </p:cNvCxnSpPr>
          <p:nvPr/>
        </p:nvCxnSpPr>
        <p:spPr>
          <a:xfrm>
            <a:off x="5230113" y="1597247"/>
            <a:ext cx="0" cy="3687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Connecteur droit avec flèche 16"/>
          <p:cNvCxnSpPr>
            <a:stCxn id="6" idx="2"/>
            <a:endCxn id="7" idx="0"/>
          </p:cNvCxnSpPr>
          <p:nvPr/>
        </p:nvCxnSpPr>
        <p:spPr>
          <a:xfrm flipH="1">
            <a:off x="5230112" y="2490336"/>
            <a:ext cx="1" cy="3656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Connecteur droit avec flèche 18"/>
          <p:cNvCxnSpPr>
            <a:stCxn id="7" idx="2"/>
            <a:endCxn id="8" idx="0"/>
          </p:cNvCxnSpPr>
          <p:nvPr/>
        </p:nvCxnSpPr>
        <p:spPr>
          <a:xfrm>
            <a:off x="5230112" y="3336384"/>
            <a:ext cx="1" cy="368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13572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424201" y="26600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Raw</a:t>
            </a:r>
            <a:r>
              <a:rPr lang="fr-FR" sz="1200" dirty="0" smtClean="0"/>
              <a:t> </a:t>
            </a:r>
            <a:r>
              <a:rPr lang="fr-FR" sz="1200" dirty="0" err="1" smtClean="0"/>
              <a:t>Features</a:t>
            </a:r>
            <a:endParaRPr lang="fr-FR" sz="12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424201" y="1116800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Encoding</a:t>
            </a:r>
            <a:endParaRPr lang="fr-FR" sz="12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424201" y="1965978"/>
            <a:ext cx="1611823" cy="5243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Feature</a:t>
            </a:r>
            <a:r>
              <a:rPr lang="fr-FR" sz="1200" dirty="0" smtClean="0"/>
              <a:t> </a:t>
            </a:r>
            <a:r>
              <a:rPr lang="fr-FR" sz="1200" dirty="0" err="1" smtClean="0"/>
              <a:t>Selection</a:t>
            </a:r>
            <a:endParaRPr lang="fr-FR" sz="12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424200" y="285593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Final </a:t>
            </a:r>
            <a:r>
              <a:rPr lang="fr-FR" sz="1200" dirty="0" err="1" smtClean="0"/>
              <a:t>Feature</a:t>
            </a:r>
            <a:r>
              <a:rPr lang="fr-FR" sz="1200" dirty="0" smtClean="0"/>
              <a:t> Set</a:t>
            </a:r>
            <a:endParaRPr lang="fr-FR" sz="1200" dirty="0"/>
          </a:p>
        </p:txBody>
      </p:sp>
      <p:cxnSp>
        <p:nvCxnSpPr>
          <p:cNvPr id="13" name="Connecteur droit avec flèche 12"/>
          <p:cNvCxnSpPr>
            <a:stCxn id="2" idx="2"/>
            <a:endCxn id="5" idx="0"/>
          </p:cNvCxnSpPr>
          <p:nvPr/>
        </p:nvCxnSpPr>
        <p:spPr>
          <a:xfrm>
            <a:off x="5230113" y="746454"/>
            <a:ext cx="0" cy="3703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Connecteur droit avec flèche 14"/>
          <p:cNvCxnSpPr>
            <a:stCxn id="5" idx="2"/>
            <a:endCxn id="6" idx="0"/>
          </p:cNvCxnSpPr>
          <p:nvPr/>
        </p:nvCxnSpPr>
        <p:spPr>
          <a:xfrm>
            <a:off x="5230113" y="1597247"/>
            <a:ext cx="0" cy="3687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Connecteur droit avec flèche 16"/>
          <p:cNvCxnSpPr>
            <a:stCxn id="6" idx="2"/>
            <a:endCxn id="7" idx="0"/>
          </p:cNvCxnSpPr>
          <p:nvPr/>
        </p:nvCxnSpPr>
        <p:spPr>
          <a:xfrm flipH="1">
            <a:off x="5230112" y="2490336"/>
            <a:ext cx="1" cy="3656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68254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424201" y="26600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Dataset</a:t>
            </a:r>
            <a:endParaRPr lang="fr-FR" sz="12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424201" y="1116800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Train</a:t>
            </a:r>
            <a:endParaRPr lang="fr-FR" sz="12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424201" y="1965978"/>
            <a:ext cx="1611823" cy="524358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Validation</a:t>
            </a:r>
            <a:endParaRPr lang="fr-FR" sz="12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424200" y="2855937"/>
            <a:ext cx="1611823" cy="4804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Test</a:t>
            </a:r>
            <a:endParaRPr lang="fr-FR" sz="1200" dirty="0"/>
          </a:p>
        </p:txBody>
      </p:sp>
      <p:cxnSp>
        <p:nvCxnSpPr>
          <p:cNvPr id="13" name="Connecteur droit avec flèche 12"/>
          <p:cNvCxnSpPr>
            <a:stCxn id="2" idx="2"/>
            <a:endCxn id="5" idx="0"/>
          </p:cNvCxnSpPr>
          <p:nvPr/>
        </p:nvCxnSpPr>
        <p:spPr>
          <a:xfrm>
            <a:off x="5230113" y="746454"/>
            <a:ext cx="0" cy="3703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Connecteur droit avec flèche 14"/>
          <p:cNvCxnSpPr>
            <a:stCxn id="5" idx="2"/>
            <a:endCxn id="6" idx="0"/>
          </p:cNvCxnSpPr>
          <p:nvPr/>
        </p:nvCxnSpPr>
        <p:spPr>
          <a:xfrm>
            <a:off x="5230113" y="1597247"/>
            <a:ext cx="0" cy="3687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Connecteur droit avec flèche 16"/>
          <p:cNvCxnSpPr>
            <a:stCxn id="6" idx="2"/>
            <a:endCxn id="7" idx="0"/>
          </p:cNvCxnSpPr>
          <p:nvPr/>
        </p:nvCxnSpPr>
        <p:spPr>
          <a:xfrm flipH="1">
            <a:off x="5230112" y="2490336"/>
            <a:ext cx="1" cy="3656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66053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588625" y="229982"/>
            <a:ext cx="2011680" cy="1030778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Models</a:t>
            </a:r>
            <a:endParaRPr lang="fr-FR" dirty="0"/>
          </a:p>
        </p:txBody>
      </p:sp>
      <p:cxnSp>
        <p:nvCxnSpPr>
          <p:cNvPr id="4" name="Connecteur droit 3"/>
          <p:cNvCxnSpPr>
            <a:stCxn id="2" idx="2"/>
          </p:cNvCxnSpPr>
          <p:nvPr/>
        </p:nvCxnSpPr>
        <p:spPr>
          <a:xfrm>
            <a:off x="5594465" y="1260760"/>
            <a:ext cx="0" cy="525641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" name="Rectangle à coins arrondis 8"/>
          <p:cNvSpPr/>
          <p:nvPr/>
        </p:nvSpPr>
        <p:spPr>
          <a:xfrm>
            <a:off x="6204065" y="6176356"/>
            <a:ext cx="1729048" cy="68164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Kernel-Based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6204065" y="3937460"/>
            <a:ext cx="1729048" cy="68164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Tree-Based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6204065" y="2818012"/>
            <a:ext cx="1729048" cy="68164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Linear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6204065" y="1698564"/>
            <a:ext cx="1729048" cy="68164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Baseline</a:t>
            </a:r>
            <a:endParaRPr lang="fr-FR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6204065" y="5056908"/>
            <a:ext cx="1729048" cy="68164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Ensemble</a:t>
            </a:r>
            <a:endParaRPr lang="fr-FR" dirty="0"/>
          </a:p>
        </p:txBody>
      </p:sp>
      <p:cxnSp>
        <p:nvCxnSpPr>
          <p:cNvPr id="17" name="Connecteur droit 16"/>
          <p:cNvCxnSpPr>
            <a:endCxn id="9" idx="1"/>
          </p:cNvCxnSpPr>
          <p:nvPr/>
        </p:nvCxnSpPr>
        <p:spPr>
          <a:xfrm>
            <a:off x="5594465" y="6517178"/>
            <a:ext cx="6096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Connecteur droit 19"/>
          <p:cNvCxnSpPr>
            <a:endCxn id="14" idx="1"/>
          </p:cNvCxnSpPr>
          <p:nvPr/>
        </p:nvCxnSpPr>
        <p:spPr>
          <a:xfrm>
            <a:off x="5594465" y="5397730"/>
            <a:ext cx="6096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Connecteur droit 23"/>
          <p:cNvCxnSpPr>
            <a:stCxn id="11" idx="1"/>
          </p:cNvCxnSpPr>
          <p:nvPr/>
        </p:nvCxnSpPr>
        <p:spPr>
          <a:xfrm flipH="1">
            <a:off x="5594465" y="4278282"/>
            <a:ext cx="6096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Connecteur droit 26"/>
          <p:cNvCxnSpPr>
            <a:stCxn id="12" idx="1"/>
          </p:cNvCxnSpPr>
          <p:nvPr/>
        </p:nvCxnSpPr>
        <p:spPr>
          <a:xfrm flipH="1">
            <a:off x="5594465" y="3158834"/>
            <a:ext cx="6096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Connecteur droit 29"/>
          <p:cNvCxnSpPr>
            <a:stCxn id="13" idx="1"/>
          </p:cNvCxnSpPr>
          <p:nvPr/>
        </p:nvCxnSpPr>
        <p:spPr>
          <a:xfrm flipH="1">
            <a:off x="5594465" y="2039386"/>
            <a:ext cx="6096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22845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>
            <a:off x="4060337" y="0"/>
            <a:ext cx="2358935" cy="6709764"/>
            <a:chOff x="4060337" y="0"/>
            <a:chExt cx="2358935" cy="6709764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4060337" y="0"/>
              <a:ext cx="2358935" cy="609600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Training </a:t>
              </a:r>
              <a:r>
                <a:rPr lang="fr-FR" sz="1400" dirty="0" err="1" smtClean="0"/>
                <a:t>Dataset</a:t>
              </a:r>
              <a:endParaRPr lang="fr-FR" sz="1400" dirty="0"/>
            </a:p>
          </p:txBody>
        </p:sp>
        <p:sp>
          <p:nvSpPr>
            <p:cNvPr id="3" name="Rectangle à coins arrondis 2"/>
            <p:cNvSpPr/>
            <p:nvPr/>
          </p:nvSpPr>
          <p:spPr>
            <a:xfrm>
              <a:off x="4060337" y="1016500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Hyperparameter</a:t>
              </a:r>
              <a:r>
                <a:rPr lang="fr-FR" sz="1400" dirty="0" smtClean="0"/>
                <a:t> </a:t>
              </a:r>
              <a:r>
                <a:rPr lang="fr-FR" sz="1400" dirty="0" err="1" smtClean="0"/>
                <a:t>Grid</a:t>
              </a:r>
              <a:endParaRPr lang="fr-FR" sz="1400" dirty="0"/>
            </a:p>
          </p:txBody>
        </p:sp>
        <p:sp>
          <p:nvSpPr>
            <p:cNvPr id="4" name="Rectangle à coins arrondis 3"/>
            <p:cNvSpPr/>
            <p:nvPr/>
          </p:nvSpPr>
          <p:spPr>
            <a:xfrm>
              <a:off x="4060337" y="2033000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GridSearchCV</a:t>
              </a:r>
              <a:endParaRPr lang="fr-FR" sz="1400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4060337" y="3049791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5-Fold Cross Validation</a:t>
              </a:r>
              <a:endParaRPr lang="fr-FR" sz="1400" dirty="0"/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4060337" y="4066582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F1-Score Evaluation</a:t>
              </a:r>
              <a:endParaRPr lang="fr-FR" sz="1400" dirty="0"/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4060337" y="5083373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Best </a:t>
              </a:r>
              <a:r>
                <a:rPr lang="fr-FR" sz="1400" dirty="0" err="1" smtClean="0"/>
                <a:t>Hyperparameters</a:t>
              </a:r>
              <a:endParaRPr lang="fr-FR" sz="1400" dirty="0"/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4060337" y="6100164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Optimized</a:t>
              </a:r>
              <a:r>
                <a:rPr lang="fr-FR" sz="1400" dirty="0" smtClean="0"/>
                <a:t> Model</a:t>
              </a:r>
              <a:endParaRPr lang="fr-FR" sz="1400" dirty="0"/>
            </a:p>
          </p:txBody>
        </p:sp>
        <p:cxnSp>
          <p:nvCxnSpPr>
            <p:cNvPr id="9" name="Connecteur droit avec flèche 8"/>
            <p:cNvCxnSpPr>
              <a:stCxn id="2" idx="2"/>
              <a:endCxn id="3" idx="0"/>
            </p:cNvCxnSpPr>
            <p:nvPr/>
          </p:nvCxnSpPr>
          <p:spPr>
            <a:xfrm>
              <a:off x="5239805" y="609600"/>
              <a:ext cx="0" cy="406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3" idx="2"/>
              <a:endCxn id="4" idx="0"/>
            </p:cNvCxnSpPr>
            <p:nvPr/>
          </p:nvCxnSpPr>
          <p:spPr>
            <a:xfrm>
              <a:off x="5239805" y="1626100"/>
              <a:ext cx="0" cy="406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/>
            <p:cNvCxnSpPr>
              <a:stCxn id="4" idx="2"/>
              <a:endCxn id="5" idx="0"/>
            </p:cNvCxnSpPr>
            <p:nvPr/>
          </p:nvCxnSpPr>
          <p:spPr>
            <a:xfrm>
              <a:off x="5239805" y="2642600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avec flèche 11"/>
            <p:cNvCxnSpPr>
              <a:stCxn id="5" idx="2"/>
              <a:endCxn id="6" idx="0"/>
            </p:cNvCxnSpPr>
            <p:nvPr/>
          </p:nvCxnSpPr>
          <p:spPr>
            <a:xfrm>
              <a:off x="5239805" y="3659391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/>
            <p:cNvCxnSpPr>
              <a:stCxn id="6" idx="2"/>
              <a:endCxn id="7" idx="0"/>
            </p:cNvCxnSpPr>
            <p:nvPr/>
          </p:nvCxnSpPr>
          <p:spPr>
            <a:xfrm>
              <a:off x="5239805" y="4676182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>
              <a:stCxn id="7" idx="2"/>
              <a:endCxn id="8" idx="0"/>
            </p:cNvCxnSpPr>
            <p:nvPr/>
          </p:nvCxnSpPr>
          <p:spPr>
            <a:xfrm>
              <a:off x="5239805" y="5692973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204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9874"/>
              </p:ext>
            </p:extLst>
          </p:nvPr>
        </p:nvGraphicFramePr>
        <p:xfrm>
          <a:off x="2032000" y="719666"/>
          <a:ext cx="8128002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1: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2: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3: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4: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5: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76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424201" y="266007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Mobile Money Transaction</a:t>
            </a:r>
            <a:endParaRPr lang="fr-FR" sz="12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424201" y="1116800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Data </a:t>
            </a:r>
            <a:r>
              <a:rPr lang="fr-FR" sz="1200" dirty="0" err="1" smtClean="0"/>
              <a:t>Processing</a:t>
            </a:r>
            <a:endParaRPr lang="fr-FR" sz="12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4424201" y="1965978"/>
            <a:ext cx="1611823" cy="524358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Feature</a:t>
            </a:r>
            <a:r>
              <a:rPr lang="fr-FR" sz="1200" dirty="0" smtClean="0"/>
              <a:t> Engineering</a:t>
            </a:r>
            <a:endParaRPr lang="fr-FR" sz="12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424200" y="2855937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Optimized</a:t>
            </a:r>
            <a:r>
              <a:rPr lang="fr-FR" sz="1200" dirty="0" smtClean="0"/>
              <a:t> </a:t>
            </a:r>
            <a:r>
              <a:rPr lang="fr-FR" sz="1200" dirty="0" err="1" smtClean="0"/>
              <a:t>XGBoost</a:t>
            </a:r>
            <a:r>
              <a:rPr lang="fr-FR" sz="1200" dirty="0" smtClean="0"/>
              <a:t> Model</a:t>
            </a:r>
            <a:endParaRPr lang="fr-FR" sz="1200" dirty="0"/>
          </a:p>
        </p:txBody>
      </p:sp>
      <p:cxnSp>
        <p:nvCxnSpPr>
          <p:cNvPr id="6" name="Connecteur droit avec flèche 5"/>
          <p:cNvCxnSpPr>
            <a:stCxn id="2" idx="2"/>
            <a:endCxn id="3" idx="0"/>
          </p:cNvCxnSpPr>
          <p:nvPr/>
        </p:nvCxnSpPr>
        <p:spPr>
          <a:xfrm>
            <a:off x="5230113" y="746454"/>
            <a:ext cx="0" cy="370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" name="Connecteur droit avec flèche 6"/>
          <p:cNvCxnSpPr>
            <a:stCxn id="3" idx="2"/>
            <a:endCxn id="4" idx="0"/>
          </p:cNvCxnSpPr>
          <p:nvPr/>
        </p:nvCxnSpPr>
        <p:spPr>
          <a:xfrm>
            <a:off x="5230113" y="1597247"/>
            <a:ext cx="0" cy="3687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" name="Connecteur droit avec flèche 7"/>
          <p:cNvCxnSpPr>
            <a:stCxn id="4" idx="2"/>
            <a:endCxn id="5" idx="0"/>
          </p:cNvCxnSpPr>
          <p:nvPr/>
        </p:nvCxnSpPr>
        <p:spPr>
          <a:xfrm flipH="1">
            <a:off x="5230112" y="2490336"/>
            <a:ext cx="1" cy="36560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" name="Connecteur droit avec flèche 9"/>
          <p:cNvCxnSpPr>
            <a:stCxn id="5" idx="2"/>
          </p:cNvCxnSpPr>
          <p:nvPr/>
        </p:nvCxnSpPr>
        <p:spPr>
          <a:xfrm>
            <a:off x="5230112" y="3336384"/>
            <a:ext cx="0" cy="3685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" name="Rectangle à coins arrondis 11"/>
          <p:cNvSpPr/>
          <p:nvPr/>
        </p:nvSpPr>
        <p:spPr>
          <a:xfrm>
            <a:off x="4424199" y="3701985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Fraud</a:t>
            </a:r>
            <a:r>
              <a:rPr lang="fr-FR" sz="1200" dirty="0" smtClean="0"/>
              <a:t> </a:t>
            </a:r>
            <a:r>
              <a:rPr lang="fr-FR" sz="1200" dirty="0" err="1" smtClean="0"/>
              <a:t>ProbabilitY</a:t>
            </a:r>
            <a:r>
              <a:rPr lang="fr-FR" sz="1200" dirty="0" smtClean="0"/>
              <a:t> Score</a:t>
            </a:r>
            <a:endParaRPr lang="fr-FR" sz="1200" dirty="0"/>
          </a:p>
        </p:txBody>
      </p:sp>
      <p:cxnSp>
        <p:nvCxnSpPr>
          <p:cNvPr id="15" name="Connecteur droit 14"/>
          <p:cNvCxnSpPr>
            <a:stCxn id="12" idx="2"/>
          </p:cNvCxnSpPr>
          <p:nvPr/>
        </p:nvCxnSpPr>
        <p:spPr>
          <a:xfrm flipH="1">
            <a:off x="5230110" y="4182432"/>
            <a:ext cx="1" cy="36560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3799490" y="4548033"/>
            <a:ext cx="2885089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3799490" y="4548033"/>
            <a:ext cx="0" cy="36560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6684579" y="4548033"/>
            <a:ext cx="0" cy="36560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7" name="Rectangle à coins arrondis 26"/>
          <p:cNvSpPr/>
          <p:nvPr/>
        </p:nvSpPr>
        <p:spPr>
          <a:xfrm>
            <a:off x="2993578" y="4960675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Legitimate</a:t>
            </a:r>
            <a:r>
              <a:rPr lang="fr-FR" sz="1200" dirty="0" smtClean="0"/>
              <a:t> Transaction</a:t>
            </a:r>
            <a:endParaRPr lang="fr-FR" sz="1200" dirty="0"/>
          </a:p>
        </p:txBody>
      </p:sp>
      <p:sp>
        <p:nvSpPr>
          <p:cNvPr id="28" name="Rectangle à coins arrondis 27"/>
          <p:cNvSpPr/>
          <p:nvPr/>
        </p:nvSpPr>
        <p:spPr>
          <a:xfrm>
            <a:off x="5878667" y="4960674"/>
            <a:ext cx="1611823" cy="48044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 smtClean="0"/>
              <a:t>Fraudulent</a:t>
            </a:r>
            <a:r>
              <a:rPr lang="fr-FR" sz="1200" dirty="0" smtClean="0"/>
              <a:t> Transaction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12017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060337" y="0"/>
            <a:ext cx="2358935" cy="60960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Current</a:t>
            </a:r>
            <a:r>
              <a:rPr lang="fr-FR" sz="1400" dirty="0" smtClean="0"/>
              <a:t> </a:t>
            </a:r>
            <a:r>
              <a:rPr lang="fr-FR" sz="1400" dirty="0" err="1" smtClean="0"/>
              <a:t>XGBoost</a:t>
            </a:r>
            <a:r>
              <a:rPr lang="fr-FR" sz="1400" dirty="0" smtClean="0"/>
              <a:t> Model</a:t>
            </a:r>
            <a:endParaRPr lang="fr-FR" sz="1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060337" y="10165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Real Transaction Data</a:t>
            </a:r>
            <a:endParaRPr lang="fr-FR" sz="1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4060337" y="20330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Advanced </a:t>
            </a:r>
            <a:r>
              <a:rPr lang="fr-FR" sz="1400" dirty="0" err="1" smtClean="0"/>
              <a:t>Features</a:t>
            </a:r>
            <a:endParaRPr lang="fr-FR" sz="14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060337" y="3049791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Deep</a:t>
            </a:r>
            <a:r>
              <a:rPr lang="fr-FR" sz="1400" dirty="0" smtClean="0"/>
              <a:t> Learning </a:t>
            </a:r>
            <a:r>
              <a:rPr lang="fr-FR" sz="1400" dirty="0" err="1" smtClean="0"/>
              <a:t>Models</a:t>
            </a:r>
            <a:endParaRPr lang="fr-FR" sz="14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060337" y="4066582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Explainable</a:t>
            </a:r>
            <a:r>
              <a:rPr lang="fr-FR" sz="1400" dirty="0" smtClean="0"/>
              <a:t> AI</a:t>
            </a:r>
            <a:endParaRPr lang="fr-FR" sz="14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060337" y="5083373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Real-Time </a:t>
            </a:r>
            <a:r>
              <a:rPr lang="fr-FR" sz="1400" dirty="0" err="1" smtClean="0"/>
              <a:t>Deployment</a:t>
            </a:r>
            <a:endParaRPr lang="fr-FR" sz="14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4060337" y="6100164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Intelligent </a:t>
            </a:r>
            <a:r>
              <a:rPr lang="fr-FR" sz="1400" dirty="0" err="1" smtClean="0"/>
              <a:t>Fraud</a:t>
            </a:r>
            <a:r>
              <a:rPr lang="fr-FR" sz="1400" dirty="0" smtClean="0"/>
              <a:t> </a:t>
            </a:r>
            <a:r>
              <a:rPr lang="fr-FR" sz="1400" dirty="0" err="1" smtClean="0"/>
              <a:t>Prevention</a:t>
            </a:r>
            <a:r>
              <a:rPr lang="fr-FR" sz="1400" dirty="0" smtClean="0"/>
              <a:t> Platform</a:t>
            </a:r>
            <a:endParaRPr lang="fr-FR" sz="1400" dirty="0"/>
          </a:p>
        </p:txBody>
      </p:sp>
      <p:cxnSp>
        <p:nvCxnSpPr>
          <p:cNvPr id="9" name="Connecteur droit avec flèche 8"/>
          <p:cNvCxnSpPr>
            <a:stCxn id="2" idx="2"/>
            <a:endCxn id="3" idx="0"/>
          </p:cNvCxnSpPr>
          <p:nvPr/>
        </p:nvCxnSpPr>
        <p:spPr>
          <a:xfrm>
            <a:off x="5239805" y="6096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3" idx="2"/>
            <a:endCxn id="4" idx="0"/>
          </p:cNvCxnSpPr>
          <p:nvPr/>
        </p:nvCxnSpPr>
        <p:spPr>
          <a:xfrm>
            <a:off x="5239805" y="16261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4" idx="2"/>
            <a:endCxn id="5" idx="0"/>
          </p:cNvCxnSpPr>
          <p:nvPr/>
        </p:nvCxnSpPr>
        <p:spPr>
          <a:xfrm>
            <a:off x="5239805" y="2642600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5" idx="2"/>
            <a:endCxn id="6" idx="0"/>
          </p:cNvCxnSpPr>
          <p:nvPr/>
        </p:nvCxnSpPr>
        <p:spPr>
          <a:xfrm>
            <a:off x="5239805" y="3659391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stCxn id="6" idx="2"/>
            <a:endCxn id="7" idx="0"/>
          </p:cNvCxnSpPr>
          <p:nvPr/>
        </p:nvCxnSpPr>
        <p:spPr>
          <a:xfrm>
            <a:off x="5239805" y="4676182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7" idx="2"/>
            <a:endCxn id="8" idx="0"/>
          </p:cNvCxnSpPr>
          <p:nvPr/>
        </p:nvCxnSpPr>
        <p:spPr>
          <a:xfrm>
            <a:off x="5239805" y="5692973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08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608022" y="1895303"/>
            <a:ext cx="2873433" cy="2732116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fr-FR" dirty="0" err="1" smtClean="0"/>
              <a:t>XGBoost</a:t>
            </a:r>
            <a:endParaRPr lang="fr-FR" dirty="0" smtClean="0"/>
          </a:p>
          <a:p>
            <a:pPr marL="342900" indent="-342900">
              <a:buAutoNum type="arabicPeriod"/>
            </a:pPr>
            <a:r>
              <a:rPr lang="fr-FR" dirty="0" err="1" smtClean="0"/>
              <a:t>Random</a:t>
            </a:r>
            <a:r>
              <a:rPr lang="fr-FR" dirty="0" smtClean="0"/>
              <a:t> Forest</a:t>
            </a:r>
          </a:p>
          <a:p>
            <a:pPr marL="342900" indent="-342900">
              <a:buAutoNum type="arabicPeriod"/>
            </a:pPr>
            <a:r>
              <a:rPr lang="fr-FR" dirty="0" err="1" smtClean="0"/>
              <a:t>Decision</a:t>
            </a:r>
            <a:r>
              <a:rPr lang="fr-FR" dirty="0" smtClean="0"/>
              <a:t> Forest</a:t>
            </a:r>
          </a:p>
          <a:p>
            <a:pPr marL="342900" indent="-342900">
              <a:buAutoNum type="arabicPeriod"/>
            </a:pPr>
            <a:r>
              <a:rPr lang="fr-FR" dirty="0" smtClean="0"/>
              <a:t>SVC</a:t>
            </a:r>
          </a:p>
          <a:p>
            <a:pPr marL="342900" indent="-342900">
              <a:buAutoNum type="arabicPeriod"/>
            </a:pPr>
            <a:r>
              <a:rPr lang="fr-FR" dirty="0" err="1" smtClean="0"/>
              <a:t>Ridge</a:t>
            </a:r>
            <a:endParaRPr lang="fr-FR" dirty="0" smtClean="0"/>
          </a:p>
          <a:p>
            <a:pPr marL="342900" indent="-342900">
              <a:buAutoNum type="arabicPeriod"/>
            </a:pPr>
            <a:r>
              <a:rPr lang="fr-FR" dirty="0" err="1" smtClean="0"/>
              <a:t>Logistic</a:t>
            </a:r>
            <a:r>
              <a:rPr lang="fr-FR" dirty="0" smtClean="0"/>
              <a:t> </a:t>
            </a:r>
            <a:r>
              <a:rPr lang="fr-FR" dirty="0" err="1" smtClean="0"/>
              <a:t>Regression</a:t>
            </a:r>
            <a:endParaRPr lang="fr-FR" dirty="0" smtClean="0"/>
          </a:p>
          <a:p>
            <a:pPr marL="342900" indent="-342900">
              <a:buAutoNum type="arabicPeriod"/>
            </a:pPr>
            <a:r>
              <a:rPr lang="fr-FR" dirty="0" err="1" smtClean="0"/>
              <a:t>Random</a:t>
            </a:r>
            <a:r>
              <a:rPr lang="fr-FR" dirty="0" smtClean="0"/>
              <a:t> Model</a:t>
            </a:r>
          </a:p>
          <a:p>
            <a:pPr marL="342900" indent="-342900">
              <a:buAutoNum type="arabicPeriod"/>
            </a:pPr>
            <a:r>
              <a:rPr lang="fr-FR" dirty="0" err="1" smtClean="0"/>
              <a:t>Majority</a:t>
            </a:r>
            <a:r>
              <a:rPr lang="fr-FR" dirty="0" smtClean="0"/>
              <a:t> Model</a:t>
            </a:r>
            <a:endParaRPr lang="fr-FR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608022" y="484909"/>
            <a:ext cx="2873433" cy="81464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Best Performance</a:t>
            </a:r>
            <a:endParaRPr lang="fr-FR" dirty="0"/>
          </a:p>
        </p:txBody>
      </p:sp>
      <p:cxnSp>
        <p:nvCxnSpPr>
          <p:cNvPr id="5" name="Connecteur droit avec flèche 4"/>
          <p:cNvCxnSpPr>
            <a:stCxn id="3" idx="2"/>
            <a:endCxn id="2" idx="0"/>
          </p:cNvCxnSpPr>
          <p:nvPr/>
        </p:nvCxnSpPr>
        <p:spPr>
          <a:xfrm>
            <a:off x="6044739" y="1299556"/>
            <a:ext cx="0" cy="5957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364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157</Words>
  <Application>Microsoft Office PowerPoint</Application>
  <PresentationFormat>Grand écran</PresentationFormat>
  <Paragraphs>90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KRYPTONIUM</dc:creator>
  <cp:lastModifiedBy>KRYPTONIUM</cp:lastModifiedBy>
  <cp:revision>23</cp:revision>
  <dcterms:created xsi:type="dcterms:W3CDTF">2026-06-14T21:06:47Z</dcterms:created>
  <dcterms:modified xsi:type="dcterms:W3CDTF">2026-06-18T00:38:47Z</dcterms:modified>
</cp:coreProperties>
</file>